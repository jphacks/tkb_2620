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f8da85da842d9" /><Relationship Type="http://schemas.openxmlformats.org/officeDocument/2006/relationships/extended-properties" Target="/docProps/app.xml" Id="Rbd87f4338eaf4658" /><Relationship Type="http://schemas.openxmlformats.org/officeDocument/2006/relationships/officeDocument" Target="/ppt/presentation.xml" Id="R1af961c78ab1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e33df989a49b5"/>
  </p:sldMasterIdLst>
  <p:notesMasterIdLst>
    <p:notesMasterId xmlns:r="http://schemas.openxmlformats.org/officeDocument/2006/relationships" r:id="Rea685e3852164a62"/>
  </p:notesMasterIdLst>
  <p:sldIdLst>
    <p:sldId xmlns:r="http://schemas.openxmlformats.org/officeDocument/2006/relationships" id="256" r:id="Re3d4841c177747da"/>
    <p:sldId xmlns:r="http://schemas.openxmlformats.org/officeDocument/2006/relationships" id="257" r:id="R93ea5035994c4f57"/>
    <p:sldId xmlns:r="http://schemas.openxmlformats.org/officeDocument/2006/relationships" id="258" r:id="Rf0d5285f549d41b9"/>
    <p:sldId xmlns:r="http://schemas.openxmlformats.org/officeDocument/2006/relationships" id="259" r:id="R5ab9b1f16aa243bd"/>
    <p:sldId xmlns:r="http://schemas.openxmlformats.org/officeDocument/2006/relationships" id="260" r:id="R2ef1aa7e1a0742a9"/>
    <p:sldId xmlns:r="http://schemas.openxmlformats.org/officeDocument/2006/relationships" id="261" r:id="R87e9cd76cdab41ca"/>
    <p:sldId xmlns:r="http://schemas.openxmlformats.org/officeDocument/2006/relationships" id="262" r:id="R43bb43841e474d89"/>
    <p:sldId xmlns:r="http://schemas.openxmlformats.org/officeDocument/2006/relationships" id="263" r:id="Re8c41a254e404d0f"/>
    <p:sldId xmlns:r="http://schemas.openxmlformats.org/officeDocument/2006/relationships" id="264" r:id="Rbbe333dfef9f4332"/>
    <p:sldId xmlns:r="http://schemas.openxmlformats.org/officeDocument/2006/relationships" id="265" r:id="R161fbd7a78f44dc4"/>
    <p:sldId xmlns:r="http://schemas.openxmlformats.org/officeDocument/2006/relationships" id="266" r:id="R3931da63d74d4a3a"/>
    <p:sldId xmlns:r="http://schemas.openxmlformats.org/officeDocument/2006/relationships" id="267" r:id="R0d665abd39174d8c"/>
    <p:sldId xmlns:r="http://schemas.openxmlformats.org/officeDocument/2006/relationships" id="268" r:id="R27e4707d568344d7"/>
    <p:sldId xmlns:r="http://schemas.openxmlformats.org/officeDocument/2006/relationships" id="269" r:id="R28d8ffd4587c4454"/>
    <p:sldId xmlns:r="http://schemas.openxmlformats.org/officeDocument/2006/relationships" id="270" r:id="Ra718b48972b940fa"/>
    <p:sldId xmlns:r="http://schemas.openxmlformats.org/officeDocument/2006/relationships" id="271" r:id="R402c81f83bcc4aff"/>
    <p:sldId xmlns:r="http://schemas.openxmlformats.org/officeDocument/2006/relationships" id="272" r:id="Rfe1176ed2bef40ed"/>
    <p:sldId xmlns:r="http://schemas.openxmlformats.org/officeDocument/2006/relationships" id="273" r:id="R03baf3580ec14ecc"/>
    <p:sldId xmlns:r="http://schemas.openxmlformats.org/officeDocument/2006/relationships" id="274" r:id="Rc6df1dcdbebe41a7"/>
    <p:sldId xmlns:r="http://schemas.openxmlformats.org/officeDocument/2006/relationships" id="275" r:id="Re67b8afbf2dd472a"/>
    <p:sldId xmlns:r="http://schemas.openxmlformats.org/officeDocument/2006/relationships" id="276" r:id="Rb65ff7ba5e4548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90dde6bff4496" /><Relationship Type="http://schemas.openxmlformats.org/officeDocument/2006/relationships/slideMaster" Target="/ppt/slideMasters/slideMaster1.xml" Id="R8c5e33df989a49b5" /><Relationship Type="http://schemas.openxmlformats.org/officeDocument/2006/relationships/notesMaster" Target="/ppt/notesMasters/notesMaster1.xml" Id="Rea685e3852164a62" /><Relationship Type="http://schemas.openxmlformats.org/officeDocument/2006/relationships/presProps" Target="/ppt/presProps.xml" Id="R3b576c8692ad4f1a" /><Relationship Type="http://schemas.openxmlformats.org/officeDocument/2006/relationships/tableStyles" Target="/ppt/tableStyles.xml" Id="R2a25dce9480f4fd2" /><Relationship Type="http://schemas.openxmlformats.org/officeDocument/2006/relationships/slide" Target="/ppt/slides/slide1.xml" Id="Re3d4841c177747da" /><Relationship Type="http://schemas.openxmlformats.org/officeDocument/2006/relationships/slide" Target="/ppt/slides/slide2.xml" Id="R93ea5035994c4f57" /><Relationship Type="http://schemas.openxmlformats.org/officeDocument/2006/relationships/slide" Target="/ppt/slides/slide3.xml" Id="Rf0d5285f549d41b9" /><Relationship Type="http://schemas.openxmlformats.org/officeDocument/2006/relationships/slide" Target="/ppt/slides/slide4.xml" Id="R5ab9b1f16aa243bd" /><Relationship Type="http://schemas.openxmlformats.org/officeDocument/2006/relationships/slide" Target="/ppt/slides/slide5.xml" Id="R2ef1aa7e1a0742a9" /><Relationship Type="http://schemas.openxmlformats.org/officeDocument/2006/relationships/slide" Target="/ppt/slides/slide6.xml" Id="R87e9cd76cdab41ca" /><Relationship Type="http://schemas.openxmlformats.org/officeDocument/2006/relationships/slide" Target="/ppt/slides/slide7.xml" Id="R43bb43841e474d89" /><Relationship Type="http://schemas.openxmlformats.org/officeDocument/2006/relationships/slide" Target="/ppt/slides/slide8.xml" Id="Re8c41a254e404d0f" /><Relationship Type="http://schemas.openxmlformats.org/officeDocument/2006/relationships/slide" Target="/ppt/slides/slide9.xml" Id="Rbbe333dfef9f4332" /><Relationship Type="http://schemas.openxmlformats.org/officeDocument/2006/relationships/slide" Target="/ppt/slides/slide10.xml" Id="R161fbd7a78f44dc4" /><Relationship Type="http://schemas.openxmlformats.org/officeDocument/2006/relationships/slide" Target="/ppt/slides/slide11.xml" Id="R3931da63d74d4a3a" /><Relationship Type="http://schemas.openxmlformats.org/officeDocument/2006/relationships/slide" Target="/ppt/slides/slide12.xml" Id="R0d665abd39174d8c" /><Relationship Type="http://schemas.openxmlformats.org/officeDocument/2006/relationships/slide" Target="/ppt/slides/slide13.xml" Id="R27e4707d568344d7" /><Relationship Type="http://schemas.openxmlformats.org/officeDocument/2006/relationships/slide" Target="/ppt/slides/slide14.xml" Id="R28d8ffd4587c4454" /><Relationship Type="http://schemas.openxmlformats.org/officeDocument/2006/relationships/slide" Target="/ppt/slides/slide15.xml" Id="Ra718b48972b940fa" /><Relationship Type="http://schemas.openxmlformats.org/officeDocument/2006/relationships/slide" Target="/ppt/slides/slide16.xml" Id="R402c81f83bcc4aff" /><Relationship Type="http://schemas.openxmlformats.org/officeDocument/2006/relationships/slide" Target="/ppt/slides/slide17.xml" Id="Rfe1176ed2bef40ed" /><Relationship Type="http://schemas.openxmlformats.org/officeDocument/2006/relationships/slide" Target="/ppt/slides/slide18.xml" Id="R03baf3580ec14ecc" /><Relationship Type="http://schemas.openxmlformats.org/officeDocument/2006/relationships/slide" Target="/ppt/slides/slide19.xml" Id="Rc6df1dcdbebe41a7" /><Relationship Type="http://schemas.openxmlformats.org/officeDocument/2006/relationships/slide" Target="/ppt/slides/slide20.xml" Id="Re67b8afbf2dd472a" /><Relationship Type="http://schemas.openxmlformats.org/officeDocument/2006/relationships/slide" Target="/ppt/slides/slide21.xml" Id="Rb65ff7ba5e45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15d04493f044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b3098f316f442f" /><Relationship Type="http://schemas.openxmlformats.org/officeDocument/2006/relationships/notesMaster" Target="/ppt/notesMasters/notesMaster1.xml" Id="R165ceffc2d15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1fc7373b24030" /><Relationship Type="http://schemas.openxmlformats.org/officeDocument/2006/relationships/notesMaster" Target="/ppt/notesMasters/notesMaster1.xml" Id="R13c31fbc76964f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4a69049614650" /><Relationship Type="http://schemas.openxmlformats.org/officeDocument/2006/relationships/notesMaster" Target="/ppt/notesMasters/notesMaster1.xml" Id="R508896232911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a748d38624852" /><Relationship Type="http://schemas.openxmlformats.org/officeDocument/2006/relationships/notesMaster" Target="/ppt/notesMasters/notesMaster1.xml" Id="R831eb6631bf74d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528c2a58e44fd" /><Relationship Type="http://schemas.openxmlformats.org/officeDocument/2006/relationships/notesMaster" Target="/ppt/notesMasters/notesMaster1.xml" Id="R286d373bfa2a42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cc65be0915431e" /><Relationship Type="http://schemas.openxmlformats.org/officeDocument/2006/relationships/notesMaster" Target="/ppt/notesMasters/notesMaster1.xml" Id="R4398b722abbd48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1e40d2e88437d" /><Relationship Type="http://schemas.openxmlformats.org/officeDocument/2006/relationships/notesMaster" Target="/ppt/notesMasters/notesMaster1.xml" Id="R39e36a4b7aaf43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80a64fda824988" /><Relationship Type="http://schemas.openxmlformats.org/officeDocument/2006/relationships/notesMaster" Target="/ppt/notesMasters/notesMaster1.xml" Id="R05524a0c1d674a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4d924d10c34d19" /><Relationship Type="http://schemas.openxmlformats.org/officeDocument/2006/relationships/notesMaster" Target="/ppt/notesMasters/notesMaster1.xml" Id="R045dc8644416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5684eac5c1420f" /><Relationship Type="http://schemas.openxmlformats.org/officeDocument/2006/relationships/notesMaster" Target="/ppt/notesMasters/notesMaster1.xml" Id="R61b2b19b2be547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282f6b74dc4f73" /><Relationship Type="http://schemas.openxmlformats.org/officeDocument/2006/relationships/notesMaster" Target="/ppt/notesMasters/notesMaster1.xml" Id="R7c827f2dc10240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0baac2447a4558" /><Relationship Type="http://schemas.openxmlformats.org/officeDocument/2006/relationships/notesMaster" Target="/ppt/notesMasters/notesMaster1.xml" Id="R52e91869972440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58a301f8f04dbf" /><Relationship Type="http://schemas.openxmlformats.org/officeDocument/2006/relationships/notesMaster" Target="/ppt/notesMasters/notesMaster1.xml" Id="R58f15fd246c644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1dace0cd7246ad" /><Relationship Type="http://schemas.openxmlformats.org/officeDocument/2006/relationships/notesMaster" Target="/ppt/notesMasters/notesMaster1.xml" Id="R81c98477725c4c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1f0771ff0d4b25" /><Relationship Type="http://schemas.openxmlformats.org/officeDocument/2006/relationships/notesMaster" Target="/ppt/notesMasters/notesMaster1.xml" Id="R02045a4df0aa40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a3e8e16439411d" /><Relationship Type="http://schemas.openxmlformats.org/officeDocument/2006/relationships/notesMaster" Target="/ppt/notesMasters/notesMaster1.xml" Id="R066776f04b344a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8a8f77268144d6" /><Relationship Type="http://schemas.openxmlformats.org/officeDocument/2006/relationships/notesMaster" Target="/ppt/notesMasters/notesMaster1.xml" Id="Rb49e85a232e14b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74991ad438406a" /><Relationship Type="http://schemas.openxmlformats.org/officeDocument/2006/relationships/notesMaster" Target="/ppt/notesMasters/notesMaster1.xml" Id="R8c4f5db457cb4a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c4e203f7004fc4" /><Relationship Type="http://schemas.openxmlformats.org/officeDocument/2006/relationships/notesMaster" Target="/ppt/notesMasters/notesMaster1.xml" Id="R251776f233f741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59d48bf9404c46" /><Relationship Type="http://schemas.openxmlformats.org/officeDocument/2006/relationships/notesMaster" Target="/ppt/notesMasters/notesMaster1.xml" Id="Rec813c9af6de4c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4fa8b114524c90" /><Relationship Type="http://schemas.openxmlformats.org/officeDocument/2006/relationships/notesMaster" Target="/ppt/notesMasters/notesMaster1.xml" Id="R436987286ccd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自分たちの姿がコースになる2人協力型配送ゲーム、Bodriveです。写真を選ぶ楽しさと、息を合わせる運転を組み合わせました。JPHACKS 2026 東京B会場。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写真を見るだけでなく、その写真から友達ともう一度遊ぶ時間を作りたいという発想です。効果検証済みの社会的課題とはせず、目指す体験として説明します。友達や家族での利用を想定しています。参考: judgineer-slides.pdfの背景から体験へ進む構成。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とのつながりを大事にするからこそ、その人が存在する現実の空間も大事にしたい。現実の運転の連続した動き、荷物の慣性・摩擦、人の記憶の変化を着想に、体験の手触りを作りました。実車や人間の記憶の完全再現を目指すものではなく、ゲームとして遊びやすさも調整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物領域をMediaPipeで抽出し、外周を道路に変換します。髪・肌・服などの色を輪郭の内側から取り、壁に反映します。画像は提供された実際のコース確認画面です。初回だけ切り抜き写真を表示します。全身だけでなく上半身や見切れ写真にも対応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1台とスマートフォン2台を使います。片方は横持ちでハンドルを回す、もう片方は縦持ちで傾けて加速とブレーキを操作します。片方だけでは思いどおりに走れないため会話が生まれる設計です。実機スクリーンショットを端末フレームに配置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実機デモへ切り替える想定です。写真の形をまず見せ、スマホ2台の役割を説明し、出庫と運転を見せます。時間が短い場合は本スライドを静止画の代替にできます。提供された走行画像をもとに、2個保持・1個落下の状況を示すため画像編集しています。実際にその状態を撮影した画像ではありません。出庫演出、ウインカー、ゲート、到着地点は実装済み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物領域の推定は既存モデルMediaPipeです。その出力を走れる道に変える後処理を独自に実装しました。人物マスクから最大連結領域、外周点列、平滑化、等間隔化、曲率補正、ゲーム空間の道路幅適合へ進みます。内部の穴は無視し、画像端で見切れた部分は直線で閉じます。点列の順序はSTARTから反時計回りへ正規化します。実装: src/image-processing/extractContour.ts、previewContour.ts、resampleContour.ts、correctCurves.ts、fitRoad.ts、generateCourse.ts。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間隔化した連続3点を通る円の半径から曲率を求めます。面積Aと辺長a,b,cから曲率=4A/(abc)。目標半径は6m。局所平均や円弧に基づく候補へ少しずつ移し、再リサンプリング後に曲率と自己交差を検証します。補正前の輪郭から移動上限を設け、改善しない候補は採用しません。補正しきれない場合は警告を返します。写真段階の既定上限3m・30反復と、道路適合段階の上限2mは異なります。実装: correctCurves.ts、fitRoad.ts。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元の外周を距離ベースで16区間へ分割し、各区間の25・50・75％地点で内向き法線に沿った3・6・10px内側を調べます。人物マスク外のサンプルは除外し、RGBの各チャンネルの中央値を代表色にします。失敗区間は隣接色で補完、全失敗は既定色と警告です。補正後の道路へ輪郭上の距離割合で色を再対応づけます。画像は提供写真をもとにAIで制作した抽出方法のイメージです。点の位置やパレットの色は実測した出力ではありません。処理の流れは実装に基づきます。これは髪・服などを意味で分類する処理ではありません。人物マスクの誤認識があれば背景色混入の可能性は残ります。実装: extractColors.ts、mapCourseColors.ts。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走距離は気づいてから操作が届くまでに進む距離、制動距離はブレーキが働いてから停止するまでに進む距離で、合計が停止距離です。図は距離比を表さない模式図。ゲームでは空走の固定時間を追加しておらず、2人の判断と操作が反映されます。brakePressureを1秒あたり2.5で上昇させ約0.4秒で最大とし、最大制動加速度10m/s²に踏み込み量を乗じ、走行抵抗やアクセル入力も加味します。速度の差から荷物の慣性を計算します。運転教育用の精密再現ではありません。実装: constants.ts、updateGame.ts、slideCargo.ts。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1/60秒の固定ステップで荷台ローカル座標を計算します。+xは左、+zは前。慣性加速度は横=-vω、前後=-a×発進補助倍率。静止摩擦μs=.25、動摩擦μk=.18、g=9.8。静止していて慣性の大きさがμs g以下なら動かず、超えると速度を加算。動摩擦で速度を削り、その速度で位置を更新する半陰的Euler法です。物理エンジンは使わず、ゲーム用の簡易モデルです。実装: slideCargo.ts。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箱どうしは荷台座標の軸に平行な矩形として接触を解消し、互いに押し合います。荷台の縁で弱い接触は反発。縁への速度1.8m/s以上、または外向き加速度6m/s²超が0.75秒継続すると乗り越えへ移ります。0.55秒で先に持ち上げてから外へ移動します。落下開始時にトラック速度と相対速度を世界座標へ変換し、重力で落下。地面で残り続ける箱も互いの重なりを解消します。ミニマップのXは着地位置ではなく荷台から落ち始めた地点です。実装: slideCargo.ts、cargoRails.ts、fallCargo.ts。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ハンドルとペダルは各端末でDeviceOrientationを取得し、基準角度・遊び・平滑化を適用して20Hzで送信します。Socket.IOサーバーはルームの担当を確認し、値を正規化してPCへ中継。PCがゲーム状態と物理を計算し、Three.jsで描画します。表示用アラートはPCからサーバー経由で両スマホへ返します。入力が途切れたら最後の値を最大1秒保持し、それ以降はその入力を0へ。走行中は停止させず惰性走行。ルームから担当が退出した場合は入力をすぐ破棄します。実装: useControlSender.ts、useRemoteInput.ts、server/index.ts、createScene.ts。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コースを後で他の人とも遊べるように、コースを保存します。ただし写真は公開・保存せず、プライバシーに配慮して道と色へ変換したデータを残します。元写真・人物マスク・切り抜き写真はブラウザ内のみ。初回は写真を確認用に表示し、再プレイは輪郭だけです。保存対象はコース座標、壁色、テーマ色、道幅、撮影モード、コース名。プレイ日時・回数、ランキングのチーム名・スコア・タイム・残り荷物数などもDBに保存します。完全匿名化を保証する表現はしません。実装: capture、App.tsx、courseRow.ts、supabase.ts。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ースや記録を無期限に蓄積せず、保存データの肥大化とDBの負担を抑える意図もあります。思い出度は保存せず日時から計算し、31日未プレイのコースと紐づく記録を日次削除します。ただし総データ量に固定上限を保証するものではありません。人の記憶へのリスペクトを着想に、公開して遊び直すサイクルを設けました。繰り返し遊ばれる面白いコースが残る仕掛けを意図していますが、利用継続の効果を実証したものではありません。思い出度b=100k/((log10 t)^c+k)、tは最後に遊んでからの分数、k=1.84、c=1.25。1分以内は100。グラフは実装式から算出したUIモデルの値で、人間の記憶やユーザーの利用行動を測定した結果ではありません。UIでは思い出度の数字を出さず色あせだけを見せます。値をDB保存せずlast_played_atまたはcreated_atからその都度計算。31日未プレイのコースと紐づくランキングを毎日削除するSQLを用意。pg_cronが有効でSQL適用済みの場合、毎日03:10 JSTに実行します。期限直後に即削除ではなく次の日次処理で削除。実装: memoryScore.ts、20261024020000_schedule_delete.sql。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された配送コース選択画面です。写真を保存せず、輪郭と色でコースを再現。最後に遊んだ日時・プレイ回数・ランキングを荷札にまとめ、再配達するボタンから同じコースで遊べます。遊ばないコースは色あせ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ランキングをTOP3に限定するのは、競う楽しさに加え、1コースあたりの保存件数と読込量を抑え、DBの負担を軽くするためです。DBの登録処理で4位以下を実際に削除し、履歴を無制限には残しません。総合スコアはタイム点50点と積荷点50点の合計100点です。タイム点は基準タイムを実タイムで割った比率、上限50点。積荷点は残った荷物の割合で50点。コースごとにスコア降順、タイム昇順、同スコア同タイムは先に登録した順でTOP3を表示します。ゴール後、TOP3に入る記録にはチーム名登録を案内します。チーム名は16文字まで。保存できたコースに紐づく結果が対象で、通信失敗時は伝票のみ表示します。登録時点で他のチームに抜かれる場合もあります。図中のチーム名・スコア・タイムは説明用の例で、利用実績ではありません。実装: score.ts、RankingEntryForm.tsx、RankingTable.tsx、courseRow.ts、supabase.ts。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受付、新規受付の集荷票、スマホの配達員登録、出庫、配送完了伝票、再配達という言葉と見た目を統一しました。読み込み中は道路を走るトラック、スマホ接続時は登録スタンプ、結果には日付印を押す動きと音。保存コースは色あせで時間経過を表します。画像は実画面とアプリの既存アートワーク、伝票は撮影用デモ値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半身の写真も使いたい、発進しただけで荷物が落ちる、端末差なく出来事を知りたい、出発と到着が同じ場所では配送に見えないというフィードバックを受けて調整しました。ここでの声は開発中のやり取りであり、大規模な調査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締め。独自アルゴリズムで写真を走れる道へ、独自の積荷物理で運転に手応えを、2台のスマホで協力する体験へつなぎました。写真そのものは送信・保存せず、保存したコースでまた一緒に遊べます。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真段階の標準パラメータとゲーム側の値を混同しないこと。等間隔化0.5m、目標最小半径6m、写真段階のカーブ補正は最大30回・移動上限3m、道路幅適合の既定上限2mです。色取得16区間、各区間3地点、3・6・10px内側。物理1/60秒、静止摩擦.25、動摩擦.18、接触1.8m/s、押し付け6m/s²が.75秒、乗り越え.55秒。参考コードへのリンクは付属の説明資料を参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084492c9e4a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27e6f223c42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5d928d41044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a37e532ef41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25499e1134a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b49837101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081FE5-E237-4C1C-B30A-53DD32780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1E6F57-FDD6-4D18-ACF0-32F95E2B4C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39B3E3-79D6-4E26-B23E-4C9168DE6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B6C1FA-C7DC-46A6-886C-15E75D89D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EC3B8C-3BF6-41DC-825D-19D6044B5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B04033-FED0-4CA4-BC03-9B85F7699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47277E-7ECF-44B1-AD0D-1DF2C88D0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CA2142-212C-4060-A234-EF0E1CF760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339A28-B507-4DE5-8E82-967B53C54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DDFC52-885D-443A-9290-BD2950943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9520d47e2840a9" /><Relationship Type="http://schemas.openxmlformats.org/officeDocument/2006/relationships/slideLayout" Target="/ppt/slideLayouts/slideLayout1.xml" Id="R02eb2f86364748c1" /><Relationship Type="http://schemas.openxmlformats.org/officeDocument/2006/relationships/slideLayout" Target="/ppt/slideLayouts/slideLayout2.xml" Id="R8437a61959ad48ef" /><Relationship Type="http://schemas.openxmlformats.org/officeDocument/2006/relationships/slideLayout" Target="/ppt/slideLayouts/slideLayout3.xml" Id="R5c5cb1e5d2e34bf3" /><Relationship Type="http://schemas.openxmlformats.org/officeDocument/2006/relationships/slideLayout" Target="/ppt/slideLayouts/slideLayout4.xml" Id="Rfd05fc57f34a41c8" /><Relationship Type="http://schemas.openxmlformats.org/officeDocument/2006/relationships/slideLayout" Target="/ppt/slideLayouts/slideLayout5.xml" Id="Ra926b13b34414501" /><Relationship Type="http://schemas.openxmlformats.org/officeDocument/2006/relationships/slideLayout" Target="/ppt/slideLayouts/slideLayout6.xml" Id="R0d84be52e4164d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eb2f86364748c1"/>
    <p:sldLayoutId xmlns:r="http://schemas.openxmlformats.org/officeDocument/2006/relationships" id="2147483650" r:id="R8437a61959ad48ef"/>
    <p:sldLayoutId xmlns:r="http://schemas.openxmlformats.org/officeDocument/2006/relationships" id="2147483651" r:id="R5c5cb1e5d2e34bf3"/>
    <p:sldLayoutId xmlns:r="http://schemas.openxmlformats.org/officeDocument/2006/relationships" id="2147483652" r:id="Rfd05fc57f34a41c8"/>
    <p:sldLayoutId xmlns:r="http://schemas.openxmlformats.org/officeDocument/2006/relationships" id="2147483653" r:id="Ra926b13b34414501"/>
    <p:sldLayoutId xmlns:r="http://schemas.openxmlformats.org/officeDocument/2006/relationships" id="2147483654" r:id="R0d84be52e4164d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be13824df4e8f" /><Relationship Type="http://schemas.openxmlformats.org/officeDocument/2006/relationships/image" Target="/ppt/media/image.png" Id="R27679a5853e6487a" /><Relationship Type="http://schemas.openxmlformats.org/officeDocument/2006/relationships/notesSlide" Target="/ppt/notesSlides/notesSlide1.xml" Id="Rb19d420c3355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4819f4ece46a9" /><Relationship Type="http://schemas.openxmlformats.org/officeDocument/2006/relationships/image" Target="/ppt/media/image.jpeg" Id="R25e219848eac412b" /><Relationship Type="http://schemas.openxmlformats.org/officeDocument/2006/relationships/notesSlide" Target="/ppt/notesSlides/notesSlide2.xml" Id="Rc7d7ff03ef1b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ff596351840da" /><Relationship Type="http://schemas.openxmlformats.org/officeDocument/2006/relationships/notesSlide" Target="/ppt/notesSlides/notesSlide3.xml" Id="R340cf104367f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0881a35ea4b84" /><Relationship Type="http://schemas.openxmlformats.org/officeDocument/2006/relationships/image" Target="/ppt/media/image2.png" Id="Re6480bf198864985" /><Relationship Type="http://schemas.openxmlformats.org/officeDocument/2006/relationships/notesSlide" Target="/ppt/notesSlides/notesSlide4.xml" Id="R3bbd0f2175ff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86daddd2b461b" /><Relationship Type="http://schemas.openxmlformats.org/officeDocument/2006/relationships/image" Target="/ppt/media/image3.png" Id="Rc8e4dc08ca9d4546" /><Relationship Type="http://schemas.openxmlformats.org/officeDocument/2006/relationships/image" Target="/ppt/media/image4.png" Id="R7cc8dbf9122f4d6c" /><Relationship Type="http://schemas.openxmlformats.org/officeDocument/2006/relationships/image" Target="/ppt/media/image5.png" Id="R498b2578527644c8" /><Relationship Type="http://schemas.openxmlformats.org/officeDocument/2006/relationships/image" Target="/ppt/media/image6.png" Id="Rd95eb85bb32b4d84" /><Relationship Type="http://schemas.openxmlformats.org/officeDocument/2006/relationships/image" Target="/ppt/media/image7.png" Id="R624594ee5a2b4025" /><Relationship Type="http://schemas.openxmlformats.org/officeDocument/2006/relationships/image" Target="/ppt/media/image8.png" Id="R749f9351005445e1" /><Relationship Type="http://schemas.openxmlformats.org/officeDocument/2006/relationships/notesSlide" Target="/ppt/notesSlides/notesSlide5.xml" Id="Rf5a81762c62342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0684dc5fe4060" /><Relationship Type="http://schemas.openxmlformats.org/officeDocument/2006/relationships/hyperlink" Target="https://youtu.be/AljSOdaH4es" TargetMode="External" Id="Rd00ff5b5cb81407b" /><Relationship Type="http://schemas.openxmlformats.org/officeDocument/2006/relationships/image" Target="/ppt/media/image9.png" Id="R23c0daa92251442c" /><Relationship Type="http://schemas.openxmlformats.org/officeDocument/2006/relationships/notesSlide" Target="/ppt/notesSlides/notesSlide6.xml" Id="Rdea465b99d7a40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af7034bc94374" /><Relationship Type="http://schemas.openxmlformats.org/officeDocument/2006/relationships/notesSlide" Target="/ppt/notesSlides/notesSlide7.xml" Id="R981e58b324ea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e6c3ab7bc485a" /><Relationship Type="http://schemas.openxmlformats.org/officeDocument/2006/relationships/notesSlide" Target="/ppt/notesSlides/notesSlide8.xml" Id="Rdf7a4fc66c9c4e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6db22f79b34f34" /><Relationship Type="http://schemas.openxmlformats.org/officeDocument/2006/relationships/image" Target="/ppt/media/image10.png" Id="R89a2741d01e7470e" /><Relationship Type="http://schemas.openxmlformats.org/officeDocument/2006/relationships/notesSlide" Target="/ppt/notesSlides/notesSlide9.xml" Id="R59d840252ad045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cc9a31b344d34" /><Relationship Type="http://schemas.openxmlformats.org/officeDocument/2006/relationships/notesSlide" Target="/ppt/notesSlides/notesSlide10.xml" Id="Rcfa7b798950942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9752cd96c4df1" /><Relationship Type="http://schemas.openxmlformats.org/officeDocument/2006/relationships/notesSlide" Target="/ppt/notesSlides/notesSlide11.xml" Id="Rb1096104f5ac4e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ec5fc3a6b4487" /><Relationship Type="http://schemas.openxmlformats.org/officeDocument/2006/relationships/notesSlide" Target="/ppt/notesSlides/notesSlide12.xml" Id="R0ecee241f31146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1e09481c44918" /><Relationship Type="http://schemas.openxmlformats.org/officeDocument/2006/relationships/notesSlide" Target="/ppt/notesSlides/notesSlide13.xml" Id="R8e07b0d6efd040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50ec514e1460f" /><Relationship Type="http://schemas.openxmlformats.org/officeDocument/2006/relationships/notesSlide" Target="/ppt/notesSlides/notesSlide14.xml" Id="Re471fa14decf47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ffeced2c84e6b" /><Relationship Type="http://schemas.openxmlformats.org/officeDocument/2006/relationships/chart" Target="/ppt/slides/charts/chart1.xml" Id="Rc9a5e48f96d640ea" /><Relationship Type="http://schemas.openxmlformats.org/officeDocument/2006/relationships/notesSlide" Target="/ppt/notesSlides/notesSlide15.xml" Id="R894c1f7b77b744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2d0021e524417" /><Relationship Type="http://schemas.openxmlformats.org/officeDocument/2006/relationships/image" Target="/ppt/media/image11.png" Id="Rdb2671af94ea4e0a" /><Relationship Type="http://schemas.openxmlformats.org/officeDocument/2006/relationships/notesSlide" Target="/ppt/notesSlides/notesSlide16.xml" Id="R66890e8d46ee4f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4bff13e1841f9" /><Relationship Type="http://schemas.openxmlformats.org/officeDocument/2006/relationships/notesSlide" Target="/ppt/notesSlides/notesSlide17.xml" Id="Re48e4a940ff645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432425c2b4148" /><Relationship Type="http://schemas.openxmlformats.org/officeDocument/2006/relationships/image" Target="/ppt/media/image12.png" Id="Rf7a81e15d939494b" /><Relationship Type="http://schemas.openxmlformats.org/officeDocument/2006/relationships/image" Target="/ppt/media/image13.png" Id="Re25d85122c4d4de2" /><Relationship Type="http://schemas.openxmlformats.org/officeDocument/2006/relationships/notesSlide" Target="/ppt/notesSlides/notesSlide18.xml" Id="Rd40384c5eb5143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c727433b745f0" /><Relationship Type="http://schemas.openxmlformats.org/officeDocument/2006/relationships/notesSlide" Target="/ppt/notesSlides/notesSlide19.xml" Id="Rfa463749b64b4e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689689b0845dc" /><Relationship Type="http://schemas.openxmlformats.org/officeDocument/2006/relationships/image" Target="/ppt/media/image14.png" Id="Rc0cc046beeba4a19" /><Relationship Type="http://schemas.openxmlformats.org/officeDocument/2006/relationships/hyperlink" Target="https://youtu.be/AljSOdaH4es" TargetMode="External" Id="Rd8b6f89df08b4b85" /><Relationship Type="http://schemas.openxmlformats.org/officeDocument/2006/relationships/hyperlink" Target="https://youtu.be/AljSOdaH4es" TargetMode="External" Id="R668ed064f3504ded" /><Relationship Type="http://schemas.openxmlformats.org/officeDocument/2006/relationships/notesSlide" Target="/ppt/notesSlides/notesSlide20.xml" Id="Ra4aac10dc3454a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a22f302b74fc9" /><Relationship Type="http://schemas.openxmlformats.org/officeDocument/2006/relationships/notesSlide" Target="/ppt/notesSlides/notesSlide21.xml" Id="Rd3c5ab72bc004b7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思い出度</c:v>
          </c:tx>
          <c:spPr>
            <a:solidFill xmlns:a="http://schemas.openxmlformats.org/drawingml/2006/main">
              <a:srgbClr val="DF842D"/>
            </a:solidFill>
            <a:ln xmlns:a="http://schemas.openxmlformats.org/drawingml/2006/main" w="28575">
              <a:solidFill>
                <a:srgbClr val="DF842D"/>
              </a:solidFill>
            </a:ln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直後</c:v>
                </c:pt>
                <c:pt idx="1">
                  <c:v>20分</c:v>
                </c:pt>
                <c:pt idx="2">
                  <c:v>1時間</c:v>
                </c:pt>
                <c:pt idx="3">
                  <c:v>1日</c:v>
                </c:pt>
                <c:pt idx="4">
                  <c:v>7日</c:v>
                </c:pt>
                <c:pt idx="5">
                  <c:v>31日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100</c:v>
                </c:pt>
                <c:pt idx="1">
                  <c:v>57</c:v>
                </c:pt>
                <c:pt idx="2">
                  <c:v>47</c:v>
                </c:pt>
                <c:pt idx="3">
                  <c:v>30</c:v>
                </c:pt>
                <c:pt idx="4">
                  <c:v>25</c:v>
                </c:pt>
                <c:pt idx="5">
                  <c:v>21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94B37"/>
                  </a:solidFill>
                  <a:latin typeface="Hiragino Sans"/>
                  <a:ea typeface="Hiragino Sans"/>
                  <a:cs typeface="Hiragino Sa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C"/>
        </a:solidFill>
      </c:spPr>
    </c:plotArea>
    <c:plotVisOnly val="1"/>
  </c:chart>
  <c:spPr>
    <a:solidFill xmlns:a="http://schemas.openxmlformats.org/drawingml/2006/main">
      <a:srgbClr val="F7F5E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9D782-438F-48CB-B528-8D21F213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阿吽の呼吸 ×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CF328-252F-4201-A2E9-DDFC288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70BC-F6CB-46AF-81FB-04138136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D5226-64F6-4A98-9E32-B909542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162AD-12A9-4260-B5EE-0B74686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84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1029F-0715-4F6C-8148-2A581B59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ボドライブ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19A78-6E7B-47BC-A423-D03455AD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自分たちの姿がコースになる</a:t>
            </a:r>
          </a:p>
          <a:p xmlns:a="http://schemas.openxmlformats.org/drawingml/2006/main">
            <a:pPr algn="l">
              <a:def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2人協力型の配送ゲーム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28F17-79C8-4705-9048-E00E1AB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JPHACKS 2026  東京B / tkb_2620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53028-9997-4E3F-A2F1-222336F7E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79a5853e6487a"/>
          <a:stretch xmlns:a="http://schemas.openxmlformats.org/drawingml/2006/main"/>
        </p:blipFill>
        <p:spPr>
          <a:xfrm xmlns:a="http://schemas.openxmlformats.org/drawingml/2006/main">
            <a:off x="8763000" y="2071688"/>
            <a:ext cx="2238375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93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91762-4AFC-4835-9F67-CEF135CF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30FBB-296F-4862-A2C5-66DC028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写真の思い出を、</a:t>
            </a:r>
          </a:p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もう一度遊ぶきっかけに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9DD52-0160-45BB-8C8C-4DD4142B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1B554-6C3F-4C23-B9E8-A3FC91FB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AE62A-BFBC-451A-B306-8F73ACB8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286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一緒に撮った写真。</a:t>
            </a:r>
          </a:p>
          <a:p xmlns:a="http://schemas.openxmlformats.org/drawingml/2006/main">
            <a:pPr algn="l">
              <a:def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次は、そのポーズで遊ぶ。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E3F27-4465-4CE8-AD2F-DBC5FC38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友達や家族と、</a:t>
            </a:r>
          </a:p>
          <a:p xmlns:a="http://schemas.openxmlformats.org/drawingml/2006/main">
            <a:pPr algn="l">
              <a:def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会話しながら楽しめる時間を作りたい。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DDE68-4573-40E6-A6E5-F7BF51258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219848eac412b"/>
          <a:stretch xmlns:a="http://schemas.openxmlformats.org/drawingml/2006/main"/>
        </p:blipFill>
        <p:spPr>
          <a:xfrm xmlns:a="http://schemas.openxmlformats.org/drawingml/2006/main">
            <a:off x="6334125" y="2514172"/>
            <a:ext cx="5238750" cy="25916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38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D22F9-BE73-4076-9E2B-2FFFE848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設計に込めた想い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D9EC5-522D-46D2-A3D2-7629E470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人とのつながりを、</a:t>
            </a:r>
          </a:p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その人のいる空間ごと大切に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1FB10-6A96-4FBD-A3A8-4CC605D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68BF7-91C3-4314-91E6-42428CAE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6DDB2-E30E-4A02-9A0D-00A6A531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333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現実の運転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0D9F2-7574-49EA-90D0-98CAC05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861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すぐには止まれない</a:t>
            </a:r>
          </a:p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加速・減速の連続性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D17CE-E974-4F7A-B8BA-DFFD7572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2286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6F0DF-AEA1-4D7C-9D4C-5B11DCF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荷物の手応え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925C3-53BB-4FC7-BE67-9047F38C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861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慣性と摩擦で滑る</a:t>
            </a:r>
          </a:p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急な操作で落ちる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67FD0-7832-4482-A62D-89D09B5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2286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C3CF-4806-4D34-9E5F-47EE484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33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人の記憶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F85B4-2DFD-4E12-914A-BE0F0B7E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861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時間とともに色あせる</a:t>
            </a:r>
          </a:p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遊ぶと思い出が戻る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15672-491A-4D6F-A887-EEC87047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29125"/>
            <a:ext cx="2286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B65CB-537B-45DD-93BC-BAFCE6A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写真を撮る人も、一緒に運転する人も、大切にする体験へ。</a:t>
            </a:r>
          </a:p>
        </p:txBody>
      </p:sp>
    </p:spTree>
    <p:extLst>
      <p:ext uri="{BB962C8B-B14F-4D97-AF65-F5344CB8AC3E}">
        <p14:creationId xmlns:p14="http://schemas.microsoft.com/office/powerpoint/2010/main" val="866538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6B80C-5B3A-4B2C-84DB-E8A3DEAF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写真からコースへ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2FB6-96BB-419E-9E29-2D929D56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あなたのポーズが、道になる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1A4AC-5E0A-4562-AB53-548678F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A55B9-F19D-47B2-A7F5-FDF8DD65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D2F3A-1914-462E-BB27-7491A58BF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80bf198864985"/>
          <a:stretch xmlns:a="http://schemas.openxmlformats.org/drawingml/2006/main"/>
        </p:blipFill>
        <p:spPr>
          <a:xfrm xmlns:a="http://schemas.openxmlformats.org/drawingml/2006/main">
            <a:off x="1632046" y="1952625"/>
            <a:ext cx="3736782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4F5FF-F899-43F4-8922-0B855D1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実際の写真から生成したコース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9C5B8-4B73-47DA-BE7D-0A0D9738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腕の角度も、服の色も。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6FBEE-1019-4323-A9E5-5E8FDD04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33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人物の外周を道路に</a:t>
            </a:r>
          </a:p>
          <a:p xmlns:a="http://schemas.openxmlformats.org/drawingml/2006/main">
            <a:pPr algn="l">
              <a:def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写真の色を壁に反映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BE237-31C0-496B-BFDB-CF5E1C2B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00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上半身だけでもOK</a:t>
            </a:r>
          </a:p>
        </p:txBody>
      </p:sp>
    </p:spTree>
    <p:extLst>
      <p:ext uri="{BB962C8B-B14F-4D97-AF65-F5344CB8AC3E}">
        <p14:creationId xmlns:p14="http://schemas.microsoft.com/office/powerpoint/2010/main" val="1798039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EABC7-29FF-4942-BD3E-4D795509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阿吽の呼吸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D955C-17B6-413A-9B76-ACAEC9CC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ハンドルとペダルを、ふたりで分担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004E5-9C5D-45B1-AFBB-4C15090F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19FBB-657B-4F41-A8BD-20663DB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89E54-C8D4-4FBA-8658-2AA77D9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ハンドル係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13E5C-C1F6-41A3-997C-9F1761D9C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4dc08ca9d4546"/>
          <a:stretch xmlns:a="http://schemas.openxmlformats.org/drawingml/2006/main"/>
        </p:blipFill>
        <p:spPr>
          <a:xfrm xmlns:a="http://schemas.openxmlformats.org/drawingml/2006/main">
            <a:off x="1381175" y="3190875"/>
            <a:ext cx="3657501" cy="18383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29A5-A93C-441F-AAD6-0103664CB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8dbf9122f4d6c"/>
          <a:stretch xmlns:a="http://schemas.openxmlformats.org/drawingml/2006/main"/>
        </p:blipFill>
        <p:spPr>
          <a:xfrm xmlns:a="http://schemas.openxmlformats.org/drawingml/2006/main">
            <a:off x="1524000" y="3339352"/>
            <a:ext cx="3371850" cy="155089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07796-DE2C-4650-934A-1169DFC1E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b2578527644c8"/>
          <a:stretch xmlns:a="http://schemas.openxmlformats.org/drawingml/2006/main"/>
        </p:blipFill>
        <p:spPr>
          <a:xfrm xmlns:a="http://schemas.openxmlformats.org/drawingml/2006/main">
            <a:off x="4781550" y="3668989"/>
            <a:ext cx="142875" cy="88209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25AFD-92BC-44FF-B389-595AACB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横に持って、回す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EFBBC-2C84-4633-B993-9917EA5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28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ペダル係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F36C0-6210-4779-84C9-C6CFBF699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eb85bb32b4d84"/>
          <a:stretch xmlns:a="http://schemas.openxmlformats.org/drawingml/2006/main"/>
        </p:blipFill>
        <p:spPr>
          <a:xfrm xmlns:a="http://schemas.openxmlformats.org/drawingml/2006/main">
            <a:off x="8639175" y="2333675"/>
            <a:ext cx="1838325" cy="3657501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83FB1-5C13-4DC7-99DB-99178DC07A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94ee5a2b4025"/>
          <a:stretch xmlns:a="http://schemas.openxmlformats.org/drawingml/2006/main"/>
        </p:blipFill>
        <p:spPr>
          <a:xfrm xmlns:a="http://schemas.openxmlformats.org/drawingml/2006/main">
            <a:off x="8773746" y="2466975"/>
            <a:ext cx="1559659" cy="33909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6ADF3-DB6F-402E-8953-411927A41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f9351005445e1"/>
          <a:stretch xmlns:a="http://schemas.openxmlformats.org/drawingml/2006/main"/>
        </p:blipFill>
        <p:spPr>
          <a:xfrm xmlns:a="http://schemas.openxmlformats.org/drawingml/2006/main">
            <a:off x="9105900" y="2450843"/>
            <a:ext cx="904875" cy="14656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310FC-8D2F-49DD-800A-9BC8D82D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19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奥でアクセル・手前でブレーキ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4ED18-7C05-47E4-84C8-AC8ED408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30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PC 1台 ＋ スマホ 2台 / QRで接続・インストール不要</a:t>
            </a:r>
          </a:p>
        </p:txBody>
      </p:sp>
    </p:spTree>
    <p:extLst>
      <p:ext uri="{BB962C8B-B14F-4D97-AF65-F5344CB8AC3E}">
        <p14:creationId xmlns:p14="http://schemas.microsoft.com/office/powerpoint/2010/main" val="265994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A7E8D-A89A-44F5-BA67-28BC804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C4DFD-4784-4789-81F1-D17EF38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配送センターから、お家へ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1D5D2-72E2-4EA0-88EB-B9323E1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A9369-EA4B-42D7-89BB-1F75446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31AE5-F4F7-4CFA-BE53-E02F417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95425"/>
            <a:ext cx="261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u="sng">
                <a:solidFill>
                  <a:srgbClr val="DF842D"/>
                </a:solidFill>
                <a:latin typeface="Hiragino Sans"/>
                <a:ea typeface="Hiragino Sans"/>
                <a:cs typeface="Hiragino Sans"/>
                <a:hlinkClick xmlns:r="http://schemas.openxmlformats.org/officeDocument/2006/relationships" r:id="Rd00ff5b5cb81407b"/>
              </a:rPr>
              <a:t>▶ デモ動画はこちら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A6C6C-0C86-4FC2-A5CD-008663D0AD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0daa92251442c"/>
          <a:stretch xmlns:a="http://schemas.openxmlformats.org/drawingml/2006/main"/>
        </p:blipFill>
        <p:spPr>
          <a:xfrm xmlns:a="http://schemas.openxmlformats.org/drawingml/2006/main">
            <a:off x="2910491" y="1857375"/>
            <a:ext cx="6371018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945CF-B137-4E40-82B1-C32D9B85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状況説明用の編集画像：積荷2個を保持・1個が落下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E859C-897B-4188-B3E1-E0FBB34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タイム50点 ＋ 残った積荷50点。速さと丁寧さで100点を目指す</a:t>
            </a:r>
          </a:p>
        </p:txBody>
      </p:sp>
    </p:spTree>
    <p:extLst>
      <p:ext uri="{BB962C8B-B14F-4D97-AF65-F5344CB8AC3E}">
        <p14:creationId xmlns:p14="http://schemas.microsoft.com/office/powerpoint/2010/main" val="1517830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4962A-29E7-438E-81D3-4E17067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独自アルゴリズム 1 / 輪郭抽出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AE69A-B012-4CC5-9998-DB62CE1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写真を、順序付きの道路データに変える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1E1D7-44F7-42D5-ACD6-3E9677B3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3184E-8042-46F6-BB5F-D6EF71A3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40BC8-67DD-44EA-97AB-1047614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人物マスク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0951D-F224-4CA4-9837-DC843C7A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MediaPipeで人物領域を推定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9C683-C99B-46EE-8846-31EF20E9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1935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C0C54-A1EC-4588-A510-7D549890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外周の抽出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69C74-7059-43B1-85A3-CFCBDB74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最大連結領域・内部の穴を除外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08FE8-C80F-4F90-99DB-1530481A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1935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8A65F-A639-4BED-8464-6C6A73D5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輪郭の平滑化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118E6-2A8A-427A-BFCF-1FCAA948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5点の移動平均で小さな凹凸を抑制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6DD0C-E782-4CF4-AF50-2A16770F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等間隔化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33FCA-D16A-429B-974B-4F384FDD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閉ループを距離ベースで再配置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38F74-008F-4BF3-A580-65B792AC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2435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39364-2BFE-4E96-9360-01F3FEA7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急カーブ補正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A5872-4DAE-47B5-96FA-792D6083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曲率を調べ、移動量を制限して補正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8FE80-EACF-49D8-9D28-B7331C94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2435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AE85A-A910-483D-BB1B-FED94A2A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道路データ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0497B-322C-4DB7-BF30-40A036A1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387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道幅に合わせて形と色を対応づけ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6B471-B1E1-4031-9BFC-5C6802F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人物検出はMediaPipe。外周から走れる道への変換を独自実装。</a:t>
            </a:r>
          </a:p>
        </p:txBody>
      </p:sp>
    </p:spTree>
    <p:extLst>
      <p:ext uri="{BB962C8B-B14F-4D97-AF65-F5344CB8AC3E}">
        <p14:creationId xmlns:p14="http://schemas.microsoft.com/office/powerpoint/2010/main" val="1814847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78292-8681-4E6D-94D5-063E2AA7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独自アルゴリズム 2 / 曲率補正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E3707-D180-4E77-A51F-253CFE2B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形を保ちながら、急カーブを緩める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D1909-CA9F-4043-B47D-71326D2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8D5D7-2D3E-4C0E-987F-85682F80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CE2CB-165A-460A-BE44-6A61CA1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連続する3点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1B3BB-40B2-48AB-8252-8822C361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1CCB2-96BD-44B9-AB33-2BF7C66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半径 R を推定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12545-5FC6-446A-B9DD-DA2F017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9077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4C606-7E8C-4C0C-8DFA-868BDD5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43125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R &lt; 6m を補正候補に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B2BD6-D06F-4227-B4F4-349C89B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κ = 1 / R = 4A / (abc)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5B47F-3792-4783-8501-7761048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357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A：三角形の面積</a:t>
            </a:r>
          </a:p>
          <a:p xmlns:a="http://schemas.openxmlformats.org/drawingml/2006/main">
            <a:pPr algn="l">
              <a:def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a・b・c：3辺の長さ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74384-70E2-4FE6-AC79-3CBC7490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特徴を消しすぎない制約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8B24F-C590-44CE-BAA7-65EA661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元の輪郭からの移動量に上限</a:t>
            </a:r>
          </a:p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局所的に補正し、点列を再配置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5EA47-F469-4460-A56B-AA9A8E3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補正後も必ず検証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C4DB3-D06D-40B1-BD4E-3ED75350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曲率と自己交差を再チェック</a:t>
            </a:r>
          </a:p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改善しない候補は採用しない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52B2C-4F11-439D-85B3-200FF17B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6mは目標値。補正が足りない場合は警告し、全ケースでの達成を保証しない。</a:t>
            </a:r>
          </a:p>
        </p:txBody>
      </p:sp>
    </p:spTree>
    <p:extLst>
      <p:ext uri="{BB962C8B-B14F-4D97-AF65-F5344CB8AC3E}">
        <p14:creationId xmlns:p14="http://schemas.microsoft.com/office/powerpoint/2010/main" val="1018631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9E078-2123-4F00-969A-C40914A1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独自アルゴリズム 3 / 色の対応付け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8EFBA-E88D-41BE-8908-BDB2B31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人物の内側から、壁の色を取り出す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E81A-01EA-4F52-B820-5710133B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BC44A-150F-491C-BB78-25B5813A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EAD96-8483-4819-8DE7-E6DF2C656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2741d01e7470e"/>
          <a:stretch xmlns:a="http://schemas.openxmlformats.org/drawingml/2006/main"/>
        </p:blipFill>
        <p:spPr>
          <a:xfrm xmlns:a="http://schemas.openxmlformats.org/drawingml/2006/main">
            <a:off x="1131094" y="1924050"/>
            <a:ext cx="6215063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CA904-8416-45BC-A74C-E9F7B6B9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① 外周に沿って等間隔に分割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177DD-DB60-4210-8341-17C4A8D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② 各区間の3地点から</a:t>
            </a:r>
          </a:p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　 内側3・6・10pxを調べる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51370-2AB6-47C8-8DC2-BC6DB1B5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95750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③ マスク外の色は除外</a:t>
            </a:r>
          </a:p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　 RGBの中央値を代表色に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89DA3-B1A8-4C31-AA6A-F65FD90E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実際に使った写真をもとにした抽出方法のイメージ図。点の位置・色は実測結果ではありません。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503468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F5D09-0C27-487A-B89D-B4715954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運転の設計 / 空走距離と制動距離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A1EAA-2119-4F7D-A345-4A5DABDC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止まるまでの距離にも、現実の手触りを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96693-E228-44E4-BB20-CAC80EF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487E7-9CAB-4939-A770-6388A657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5FA53-EF80-4CEE-8DC4-81E9D470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気づく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725BA-E828-4476-B3BC-AF20FF70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ブレーキ操作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01A22-7E3F-4BEB-A89B-835D93C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4787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停止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8EE46-4C18-4F05-8CEC-CD603521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352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C7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空走距離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A21A6-864B-440D-8A6E-FB5CD840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709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制動距離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B81C8-3BE1-4A88-80F5-A2D31001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433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気づいて操作するまで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98030-B5A9-49CF-AA76-BFF5AF5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43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ブレーキが効いてから止まるまで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5CA61-462E-4BDF-BEA7-E1337F5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停止距離 ＝ 空走距離 ＋ 制動距離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C7861-81FB-429A-99AF-C4BFE73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ゲームへの取り入れ方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CF3C0-DD86-4E4B-B35C-6B0815C7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ブレーキは約0.4秒かけて効く</a:t>
            </a:r>
          </a:p>
          <a:p xmlns:a="http://schemas.openxmlformats.org/drawingml/2006/main">
            <a:pPr algn="l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減速の勢いが積荷の動きにもつながる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AAAB-9C01-48BA-A06D-4FE9B499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293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空走時間の固定遅延は追加しない。判断・操作の時間と、連続的な減速を表現する。図は模式図。</a:t>
            </a:r>
          </a:p>
        </p:txBody>
      </p:sp>
    </p:spTree>
    <p:extLst>
      <p:ext uri="{BB962C8B-B14F-4D97-AF65-F5344CB8AC3E}">
        <p14:creationId xmlns:p14="http://schemas.microsoft.com/office/powerpoint/2010/main" val="866432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390D8-6337-4D6A-A45A-CDED945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独自アルゴリズム 4 / 積荷物理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7DC06-A53F-4F0D-A1F2-7CA8120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荷物は、加減速と旋回の慣性で動く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301DA-71BA-4A9E-AA38-0A3A4C6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3759A-8FFC-44EA-A1B4-99537F07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7B6C6-B0E8-44B2-9DE7-8B7DBB7D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524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トラックの状態</a:t>
            </a:r>
          </a:p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速度 v / 加速度 a / 旋回速度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ECEC1-41AE-4745-91A1-FAAFF1C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86025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1ECFF-35E3-4E15-96A2-96CE7788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523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荷台座標の慣性</a:t>
            </a:r>
          </a:p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横：−vω　前後：−a × 発進補助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10A7-ACD4-4730-BFB6-498DFE4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静止摩擦を超えたら滑る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ABDC4-5067-4CEB-8B64-1B11DE6C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|慣性加速度| &gt; μs g</a:t>
            </a:r>
          </a:p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μs = 0.25 / g = 9.8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54F5D-22E0-448E-AFCC-F8B7434D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動摩擦で減速し、位置を更新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32640-BCB0-4E2B-A576-7555CE8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速度に慣性を加算し、摩擦を差し引く</a:t>
            </a:r>
          </a:p>
          <a:p xmlns:a="http://schemas.openxmlformats.org/drawingml/2006/main">
            <a:pPr algn="l">
              <a:def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μk = 0.18 / Δt = 1/60秒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6B6E5-EFCE-4040-87F0-7CA37ACD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発進直後は補助を入れ、最初から荷物が落ちるストレスを抑える</a:t>
            </a:r>
          </a:p>
        </p:txBody>
      </p:sp>
    </p:spTree>
    <p:extLst>
      <p:ext uri="{BB962C8B-B14F-4D97-AF65-F5344CB8AC3E}">
        <p14:creationId xmlns:p14="http://schemas.microsoft.com/office/powerpoint/2010/main" val="2024231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BE1FCE-8EA0-4B41-9E79-8CBD911D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独自アルゴリズム 5 / 接触と落下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67135-3C70-4D05-A5F1-CA413262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滑る、縁を越える、落ちるまでをつなぐ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479D6-0E8C-48D3-97A9-FCF96E24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456E3-290D-4E84-A136-173E79AB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ACA39-64D7-465D-AFEA-955EAE3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静止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7EDF7-B234-4A67-BC74-125E699D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764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8FFA9-87DE-4330-968F-09C7BA4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743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1A100-9AF6-42FB-A61C-1623AEA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67125"/>
            <a:ext cx="85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DAC1D-B103-46D8-821C-B68BFA69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B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DD623-E6A7-4059-8C0E-72E7D31C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05200"/>
            <a:ext cx="76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BC"/>
          </a:solidFill>
          <a:ln xmlns:a="http://schemas.openxmlformats.org/drawingml/2006/main" w="12383">
            <a:solidFill>
              <a:srgbClr val="F2E5B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03B61-4785-48A1-9A7A-44692CD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摩擦で荷台にとどまる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0991F-94FB-4C3D-9F9D-AA3721BF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滑走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746D7-CC62-4BDF-BAB7-B366BADB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2764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9F35D-22D3-414B-A98E-CF179BE1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29075"/>
            <a:ext cx="1743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3D5F7-186D-4377-83C2-6E13099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67125"/>
            <a:ext cx="85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B7640-EF77-4FCB-B098-89CF84C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052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B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D020C-7E65-40C4-99B0-F57DC17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05200"/>
            <a:ext cx="76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BC"/>
          </a:solidFill>
          <a:ln xmlns:a="http://schemas.openxmlformats.org/drawingml/2006/main" w="12383">
            <a:solidFill>
              <a:srgbClr val="F2E5B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DAAC8-022F-446D-8BCA-2921CE94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05225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1E7D3-913B-4B97-9C2C-3DF35523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05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慣性が摩擦を超える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A3094-3A57-4057-862A-58B6B491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764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縁を乗り越える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50E14-3D00-4A1E-B5B1-7B45FDFE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76475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BE1A0-5D63-4796-9994-EB17A76A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1743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9B69E-EBCC-42FC-8DFF-C775931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85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A3EC6-96FD-4DAF-85C2-BF327899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52775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B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9E81E-583A-4A12-A239-9545D66D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2775"/>
            <a:ext cx="76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BC"/>
          </a:solidFill>
          <a:ln xmlns:a="http://schemas.openxmlformats.org/drawingml/2006/main" w="12383">
            <a:solidFill>
              <a:srgbClr val="F2E5B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3DAC1-F9B5-4DEC-BA5C-6ECBE809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161925" cy="457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A8827-5F95-4CD2-9B86-3D61EA3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05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先に持ち上がって外へ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01345-F84F-4960-8CBE-51A6E45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落下・地面に残る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80D99-A943-429E-8531-C7A97BE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29075"/>
            <a:ext cx="1743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27C07-2A99-4EA4-992F-8846FF4F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667125"/>
            <a:ext cx="85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37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10BDF-18E8-473F-943E-2C0AB60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4305300"/>
            <a:ext cx="409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4B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AD2B3-46E1-463A-AAFF-8D5F757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305300"/>
            <a:ext cx="76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5BC"/>
          </a:solidFill>
          <a:ln xmlns:a="http://schemas.openxmlformats.org/drawingml/2006/main" w="12383">
            <a:solidFill>
              <a:srgbClr val="F2E5B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40B59-1A97-4233-A8A8-D0E16B51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434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6C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34C231-30DB-4E90-B4F1-58371F3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762375"/>
            <a:ext cx="17145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4F9BC1-ED64-4E86-B4E7-DE8CC8F8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05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落下後も地面に残る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A9C06E-937C-4B80-86B2-3FC23BA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弱い接触ではすぐ落とさない。箱どうしは押し合い、重なりを分離する。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E19571-0411-4753-A222-F51EFC79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縁越え：接触速度 ≥ 1.8m/s、または外向き加速度 &gt; 6m/s² が0.75秒継続。模式図。</a:t>
            </a:r>
          </a:p>
        </p:txBody>
      </p:sp>
    </p:spTree>
    <p:extLst>
      <p:ext uri="{BB962C8B-B14F-4D97-AF65-F5344CB8AC3E}">
        <p14:creationId xmlns:p14="http://schemas.microsoft.com/office/powerpoint/2010/main" val="970190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91EEC-5AC8-4188-A8A7-D8B3E7A4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システム構成 / 通信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55A42-DCC1-4C7D-9564-9EBBD6CE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スマホ2台の入力を、PCの1台へ集約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C4818-1358-4404-AD2A-5EDE9EBC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57547-9115-448A-B04F-F453B95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0210E-AE9A-4401-A899-5BE9D512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スマホ A：ハンドル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3DB65-84E8-445F-B12D-A343FD1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傾き → 基準補正・平滑化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9FFDC-4FC5-4CDD-A781-A5529EF5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スマホ B：ペダル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D3B9C-05B3-40C4-846F-3CB9DEDB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傾き → アクセル・ブレーキ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8142-D538-4BC3-A4B3-E9A4D8A8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AB440-978F-4A18-840D-B7CBB571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C42EF-F026-495A-A586-893A17F9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通信サーバー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8D803-9FDF-43A0-BFD7-7E178AA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Node.js / Socket.IO</a:t>
            </a:r>
          </a:p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ルーム・担当の確認</a:t>
            </a:r>
          </a:p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入力値の正規化と中継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75261-8355-4712-87B2-A23146E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8132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540BE-7620-4A5B-B9CE-2124A2DB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PCのブラウザ / React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B0E1D-11C8-46C5-8E04-B8C9A214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790825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写真 → MediaPipe → コース生成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3E797-F48C-46C2-80F8-5F67B75E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0995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入力 → 1/60秒の物理 → Three.js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88FC4-E48D-4ABC-B4F1-AD998983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ゲームの状態・描画はPCが担当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B3B47-A044-4D07-8D70-0C899E5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20Hzで操作を送信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5B054-CC8C-4FAE-8FC6-45000CF1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52387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79E26-B9E0-48E2-B1DE-B33A395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530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PC → サーバー → 両スマホへ接触・落下を通知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65A6E-F9E5-4300-A541-224A408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95800"/>
            <a:ext cx="1905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1348E-1E53-422E-BD34-A85E2045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967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Supabase / コース・ランキング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AD600-6EB1-4E64-9C95-A490424F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7626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PCから保存・読込（REST API）</a:t>
            </a:r>
          </a:p>
        </p:txBody>
      </p:sp>
    </p:spTree>
    <p:extLst>
      <p:ext uri="{BB962C8B-B14F-4D97-AF65-F5344CB8AC3E}">
        <p14:creationId xmlns:p14="http://schemas.microsoft.com/office/powerpoint/2010/main" val="7647277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042D6-E8ED-4E27-8AFB-28E0B8E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システム構成 / データの境界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2B060-0A55-4689-B259-3607816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写真を送らず、コースを残す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E236-B2D6-4429-A9BB-4EECBD77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0E1FA-8FD9-4D4C-81BF-21EE2B62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39133-678C-449E-A522-539192E5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77628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2383">
            <a:solidFill>
              <a:srgbClr val="6E776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2227D-2D15-41C1-B8A9-9755CCB5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PCのブラウザ内で処理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34AA3-A4D0-4200-8415-80071B2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人物写真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F60E4-A68C-4B8A-BCB6-73C76DB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B88D7-ED6F-412F-89C5-087AA1D0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09900"/>
            <a:ext cx="2047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人物マスク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460C1-5671-4F9C-8EB2-E212DE7D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FC897-012F-487F-BB3D-D32BF25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099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座標・色・道幅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CAB61-F2BE-4867-9227-1C033224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写真・切り抜き画像はこの範囲だけ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F8529-3CD7-4148-894D-3C3D81D0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4BAD2-0B1F-4633-BB7B-6EBFB710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2143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Supabase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C56D3-37DD-48C2-86D0-AF158ABD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57625"/>
            <a:ext cx="2143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コースデータ</a:t>
            </a:r>
          </a:p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コース名・記録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FDC9A-9D18-40B5-9E91-AEFDA32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95850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写真は残さず、何度でも遊べる道に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26A24-D4F0-4D3C-8902-4B31B39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次は他の人とも、同じコースで遊ぶため。</a:t>
            </a:r>
          </a:p>
          <a:p xmlns:a="http://schemas.openxmlformats.org/drawingml/2006/main">
            <a:pPr algn="l">
              <a:def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人物の写真を残さず、プライバシーに配慮。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62DE9-B37F-4A2A-A13A-0A1DBE5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958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DBに保存するもの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7C16C-8860-46DB-AD3A-BE325844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2925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座標・壁色・テーマ色・道幅・撮影モード</a:t>
            </a:r>
          </a:p>
          <a:p xmlns:a="http://schemas.openxmlformats.org/drawingml/2006/main">
            <a:pPr algn="l">
              <a:def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名前・プレイ日時と回数・ランキング記録</a:t>
            </a:r>
          </a:p>
        </p:txBody>
      </p:sp>
    </p:spTree>
    <p:extLst>
      <p:ext uri="{BB962C8B-B14F-4D97-AF65-F5344CB8AC3E}">
        <p14:creationId xmlns:p14="http://schemas.microsoft.com/office/powerpoint/2010/main" val="20197977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D31DA-C05C-4D2B-A78D-3292227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忘れられていく思い出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E907C-E818-4042-9688-D7A3692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遊ばない思い出は、少しずつ色あせる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03B0C-92D8-467D-AC68-F6755123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0CE6F-2213-4456-BD8A-9923F0C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6AE4C5B-4DB5-4F80-986B-9D1358D7BBD6}"/>
              </a:ext>
            </a:extLst>
          </p:cNvPr>
          <p:cNvGraphicFramePr/>
          <p:nvPr/>
        </p:nvGraphicFramePr>
        <p:xfrm>
          <a:off xmlns:a="http://schemas.openxmlformats.org/drawingml/2006/main" x="619125" y="2133600"/>
          <a:ext xmlns:a="http://schemas.openxmlformats.org/drawingml/2006/main" cx="5810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a5e48f96d640e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CB147-9783-4BB0-A2D8-4A70EF87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b(t) = 184 / ((log10 t)^1.25 + 1.84)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E6CDA-5F98-4BFC-831D-9850A19A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621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人の記憶を、遊ぶ仕掛けへ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FD264-3849-47CD-8BF4-2EC713DD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051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公開したコースで遊ぶ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EFCB7-9FAC-4814-AB56-79E22922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81400"/>
            <a:ext cx="1905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D3B54-664C-43DA-AA92-88BF808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思い出が戻る → また遊ぶ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8E396-787D-4F85-AF00-01AE8AB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6250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繰り返し遊ばれるコースが残る</a:t>
            </a:r>
          </a:p>
          <a:p xmlns:a="http://schemas.openxmlformats.org/drawingml/2006/main">
            <a: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31日未プレイのコースと記録を日次削除</a:t>
            </a:r>
          </a:p>
          <a:p xmlns:a="http://schemas.openxmlformats.org/drawingml/2006/main">
            <a:pPr algn="l">
              <a:def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保存データの肥大化を抑える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AAA2F-F0F5-4696-B5ED-2BE7A5CC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グラフは実装式の計算値。横軸は経過時間のカテゴリで、人の記憶を測定した結果ではない。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20488551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BA5A1-6B6C-4B16-9BBA-B5F5EAF5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配送コース一覧 / 再配達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BCBDF-D234-4A53-8995-B9A3C40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思い出のコースを公開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22C92-1908-4CC6-B398-A433D75B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907CE-3E5D-44D6-9605-B87559E1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006F4-5D29-45FF-A5C7-CB8BE5DFC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671af94ea4e0a"/>
          <a:stretch xmlns:a="http://schemas.openxmlformats.org/drawingml/2006/main"/>
        </p:blipFill>
        <p:spPr>
          <a:xfrm xmlns:a="http://schemas.openxmlformats.org/drawingml/2006/main">
            <a:off x="2249010" y="1952625"/>
            <a:ext cx="7693981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ADE01-3067-4DDD-B2DA-25D83995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写真を見せずに、コースを公開。次は他の人とも「再配達」。</a:t>
            </a:r>
          </a:p>
        </p:txBody>
      </p:sp>
    </p:spTree>
    <p:extLst>
      <p:ext uri="{BB962C8B-B14F-4D97-AF65-F5344CB8AC3E}">
        <p14:creationId xmlns:p14="http://schemas.microsoft.com/office/powerpoint/2010/main" val="1175080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A6E90B-C0DB-4692-83EB-7565BBA9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ランキング / もう一度挑戦したくなる記録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A6D8A-CACA-46E9-A4CC-2C416F54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ふたりの配達記録で、コースごとのTOP3へ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1FA33-32E6-4B6C-BBBA-611CC852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DBB5A-2D18-46E6-81E2-3A97BD09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D015C-A289-4227-BED9-557FCF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速さ 50点 ＋ 残った積荷 50点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F8903-4F08-4CEF-9404-9F5E028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61912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/>
          </a:solidFill>
          <a:ln xmlns:a="http://schemas.openxmlformats.org/drawingml/2006/main" w="12383">
            <a:solidFill>
              <a:srgbClr val="294B3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BD2FE-32D8-45BC-AAD4-10A7EBC0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289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配達ランキング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E4FE8-CFC7-4FD6-9206-BD950B0B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5905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2383">
            <a:solidFill>
              <a:srgbClr val="D7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F1FEB-6C96-4092-9121-A766E5F0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1位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B2D94-EFBD-4959-8B2E-B67C9B4C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チーム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74386-BE3A-4E66-A60A-E6E1232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99点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A98DB-9AE7-4757-AE2F-BD80FBB4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0:32.4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C0D1E-9206-4EA4-87B8-102B550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3/3個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213C6-63C1-42A8-B79D-972EEBD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5905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2383">
            <a:solidFill>
              <a:srgbClr val="D7DC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95551-B346-4542-A045-657DDBF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2位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90C02-9F0F-4EE2-A989-D721EA2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チーム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05EBA-0500-419E-B223-F3B9AA15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94点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52B1A-25FF-4700-B3BA-6E5A97A0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0:36.0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F2308-F418-4D8D-B083-B81E4F9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3/3個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72600-0AAF-4D0A-8663-4B69121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5905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C"/>
          </a:solidFill>
          <a:ln xmlns:a="http://schemas.openxmlformats.org/drawingml/2006/main" w="12383">
            <a:solidFill>
              <a:srgbClr val="D7DC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563E2-2870-4AC6-88D4-4870F71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3位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541E-DD2C-43F8-BA52-6BF7963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チーム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92C2F-AF67-401D-AF11-8D7AA03E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83点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29275-D2EB-405A-B534-38E6E3C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0:31.7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BCC55-E637-4069-83CB-3C4CC8DE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2/3個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DD6AF-8C81-4A4D-94A2-CD36EA4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05425"/>
            <a:ext cx="642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高スコア順。同点なら、タイムが短いチームが上位。</a:t>
            </a:r>
          </a:p>
          <a:p xmlns:a="http://schemas.openxmlformats.org/drawingml/2006/main">
            <a:pPr algn="l">
              <a:def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保存は1コース3件まで。4位以下を削除しDBの負担を軽く。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61368-D749-4058-913C-2990CE5E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955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配送完了・スコア算出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FA72F-8D67-4AB6-A561-8DC5250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00350"/>
            <a:ext cx="20955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4803F-665F-4FBC-A073-4D07EAF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390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3C7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TOP3ならチーム名を登録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7E26A-D6C4-49D9-9216-378E7C9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16文字まで / Supabaseへ記録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9B4EED-7A2A-4C32-BF85-CA5EEE05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76750"/>
            <a:ext cx="20955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4A63DE-FA7A-450A-A0D8-588932D4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53000"/>
            <a:ext cx="3905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11430">
            <a:solidFill>
              <a:srgbClr val="294B37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公開コースで記録を確認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8BE750-6769-43EE-BA36-A2A237CA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293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チーム名・記録は説明用の例。「速さ」と「丁寧さ」を比べて、同じコースに再挑戦。</a:t>
            </a:r>
          </a:p>
        </p:txBody>
      </p:sp>
    </p:spTree>
    <p:extLst>
      <p:ext uri="{BB962C8B-B14F-4D97-AF65-F5344CB8AC3E}">
        <p14:creationId xmlns:p14="http://schemas.microsoft.com/office/powerpoint/2010/main" val="15207267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4E9A6-A11D-46DD-A231-FFBA248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配送センターの世界観で統一したUI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DF559-EAD7-4A71-B7C1-D9B2A77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画面全体を、ひとつの配送サービスに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713E9-0322-4C27-BEAB-8A57BBF2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96BF0-7DE7-48B9-AFF6-2F76F61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4D352-E1CC-46D0-8CA7-3961A8101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81e15d939494b"/>
          <a:stretch xmlns:a="http://schemas.openxmlformats.org/drawingml/2006/main"/>
        </p:blipFill>
        <p:spPr>
          <a:xfrm xmlns:a="http://schemas.openxmlformats.org/drawingml/2006/main">
            <a:off x="619125" y="2338728"/>
            <a:ext cx="5476875" cy="289492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10920-23D6-49AB-8E7B-262025D7E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d85122c4d4de2"/>
          <a:stretch xmlns:a="http://schemas.openxmlformats.org/drawingml/2006/main"/>
        </p:blipFill>
        <p:spPr>
          <a:xfrm xmlns:a="http://schemas.openxmlformats.org/drawingml/2006/main">
            <a:off x="7043487" y="2000250"/>
            <a:ext cx="3915276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D0BCE-2624-40F8-A207-BB1B8329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スマホ接続を、登録スタンプで通知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126B-F15C-4DE8-A4A6-4FF20DA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959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配達を終えて、伝票に押印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8CDC3-C024-4E09-B5C2-5A65058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集荷・登録・再配達まで、言葉と動きを統一。</a:t>
            </a:r>
          </a:p>
        </p:txBody>
      </p:sp>
    </p:spTree>
    <p:extLst>
      <p:ext uri="{BB962C8B-B14F-4D97-AF65-F5344CB8AC3E}">
        <p14:creationId xmlns:p14="http://schemas.microsoft.com/office/powerpoint/2010/main" val="5848495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1BF07-FB84-4061-8C33-345B7105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開発中の調整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551A3-334A-48AD-B970-083FAD33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使って気づいた違和感を、仕様へ戻す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FEA78-A8C7-4A15-B79A-25A95162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90C4D-0B47-4A03-890D-BA0CEAC4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EF7C0-913B-4D6C-A0CB-779D708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全身が写っていないと使いにくい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3BC98-A16B-46F7-9066-A8699312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479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DA1FD-9A43-4231-B5EC-CD34180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上半身・見切れ写真も、閉じた輪郭に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4B59B-09B3-48ED-8B48-94F4FEB0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発進するだけで荷物が落ちる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60DB3-BB40-4BD7-9204-E75F9B3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289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789C0-0D5E-4587-9A25-0BAF6DF7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1467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低速発進を補助。旋回・急ブレーキの手応えは残す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E2A2E-B976-471D-BCF4-27749904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端末が違っても出来事を知りたい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93731-8219-4EBF-BFE7-AAB5000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BA9F0-986B-4C30-992D-B5AB1086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振動の代わりに、スマホの縁を黄色・赤で通知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4B9D3-FFEA-4AA9-89BB-892F9DB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768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会社に戻るだけでは配送に見えない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F2B7D-2BF7-449E-A16A-4B5C82B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9112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842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C8344-E57F-4EE8-9523-20B0C86A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76825"/>
            <a:ext cx="4953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90％地点に赤い屋根のお家。そこへ届ける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F8313-2DAD-4581-ADC8-7D3BF5E9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実機での試用と開発中のフィードバックを反映。効果の定量検証はこれから。</a:t>
            </a:r>
          </a:p>
        </p:txBody>
      </p:sp>
    </p:spTree>
    <p:extLst>
      <p:ext uri="{BB962C8B-B14F-4D97-AF65-F5344CB8AC3E}">
        <p14:creationId xmlns:p14="http://schemas.microsoft.com/office/powerpoint/2010/main" val="5813495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F3C98-2246-40AE-A13C-E42AC700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阿吽の呼吸 ×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1C0A5-6AE5-4169-ACD7-B53A39F7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5B92A-36B6-4B86-B4B1-687924D4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DED76-556C-4CFA-90EB-A9BAA2F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A1A41-1DDC-44CD-922C-2924FD99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ふたりの姿で、</a:t>
            </a:r>
          </a:p>
          <a:p xmlns:a="http://schemas.openxmlformats.org/drawingml/2006/main">
            <a:pPr algn="l">
              <a:def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ふたりだけの配達へ。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ECDDF-C6C5-4A9D-BCB1-38C069A0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433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写真が道になる。荷物が動く。声を合わせて届ける。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BFE05-6EF5-47FB-9EFC-9A47834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58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14B08-76C4-4955-A897-BD222738F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c046beeba4a19"/>
          <a:stretch xmlns:a="http://schemas.openxmlformats.org/drawingml/2006/main"/>
        </p:blipFill>
        <p:spPr>
          <a:xfrm xmlns:a="http://schemas.openxmlformats.org/drawingml/2006/main">
            <a:off x="8645275" y="4429125"/>
            <a:ext cx="2140449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72BD9-8C52-4AFA-A452-B8F1C9FA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 u="sng">
                <a:solidFill>
                  <a:srgbClr val="DF842D"/>
                </a:solidFill>
                <a:latin typeface="Hiragino Sans"/>
                <a:ea typeface="Hiragino Sans"/>
                <a:cs typeface="Hiragino Sans"/>
                <a:hlinkClick xmlns:r="http://schemas.openxmlformats.org/officeDocument/2006/relationships" r:id="Rd8b6f89df08b4b85"/>
              </a:rPr>
              <a:t>▶ デモ動画はこちら（YouTube）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0B6B9-2EA1-45A8-9519-A544705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u="sng">
                <a:solidFill>
                  <a:srgbClr val="DF842D"/>
                </a:solidFill>
                <a:latin typeface="Hiragino Sans"/>
                <a:ea typeface="Hiragino Sans"/>
                <a:cs typeface="Hiragino Sans"/>
                <a:hlinkClick xmlns:r="http://schemas.openxmlformats.org/officeDocument/2006/relationships" r:id="R668ed064f3504ded"/>
              </a:rPr>
              <a:t>https://youtu.be/AljSOdaH4es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EADEB-6A7B-4AA1-8E4C-2497979D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9721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github.com/jphacks/tkb_2620</a:t>
            </a:r>
          </a:p>
        </p:txBody>
      </p:sp>
    </p:spTree>
    <p:extLst>
      <p:ext uri="{BB962C8B-B14F-4D97-AF65-F5344CB8AC3E}">
        <p14:creationId xmlns:p14="http://schemas.microsoft.com/office/powerpoint/2010/main" val="11704851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8453F-7EF5-422B-BC25-5D4D308A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補足 / 実装の詳細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B8971-B3BD-4B4B-BCDA-239B844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主要パラメータと、採用した理由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43E5B-89B7-4F12-8B72-779F5C09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Bodrive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717D1-4631-4256-9ADA-27445C1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A94C2-06B7-4ACD-9349-0A7E5D63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輪郭の点間隔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08F50-9B2E-4D9E-81BE-E18EFBF6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0.5m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0D293-691F-4050-9098-F457303E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曲率計算の点密度を揃える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CF2B1-B652-458B-AA45-1BF4FFE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急カーブの目標半径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AA01F-C7BD-42CB-868A-D86598C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6m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966A3-6A77-458C-B073-A26D41B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トラックの旋回半径と揃える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2C457-9DD0-4758-B961-4C128BEF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色の取得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373E6-CBDD-47F3-BE12-D7135426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81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16区間 × 3地点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3DD50-EAFD-4CC3-9F69-5DE1F8A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輪郭全体に色を分散して取得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08C30-0592-4310-8D74-A76FD09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積荷の計算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8017C-C443-4C14-A617-315BBC31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00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1/60秒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7E2B3-49D0-4928-8F82-3A436E1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描画の速さと計算の刻みを分離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D9AF2-4F3B-44B7-BACE-59A17F7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通信の送信間隔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B7CB4-1A69-4300-B44A-B4DAA98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19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50ms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8B0BC-321F-44A2-A1F4-D60DD067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9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端末ごとの操作を20HzでPCへ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07757-6FAE-40D4-8E32-C9F25DB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94B37"/>
                </a:solidFill>
                <a:latin typeface="Hiragino Sans"/>
                <a:ea typeface="Hiragino Sans"/>
                <a:cs typeface="Hiragino Sans"/>
              </a:rPr>
              <a:t>コースの削除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84333-BACD-4EC0-866D-2948A4C1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38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DF842D"/>
                </a:solidFill>
                <a:latin typeface="Hiragino Sans"/>
                <a:ea typeface="Hiragino Sans"/>
                <a:cs typeface="Hiragino Sans"/>
              </a:rPr>
              <a:t>31日未プレイ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839EF-CCA8-4B6F-B238-56F2A7EA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3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defPPr>
            <a:lvl1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1pPr>
            <a:lvl2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2pPr>
            <a:lvl3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3pPr>
            <a:lvl4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4pPr>
            <a:lvl5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5pPr>
            <a:lvl6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6pPr>
            <a:lvl7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7pPr>
            <a:lvl8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8pPr>
            <a:lvl9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6E776C"/>
                </a:solidFill>
                <a:latin typeface="Hiragino Sans"/>
                <a:ea typeface="Hiragino Sans"/>
                <a:cs typeface="Hiragino Sans"/>
              </a:rPr>
              <a:t>日時から判定し日次処理で削除</a:t>
            </a:r>
          </a:p>
        </p:txBody>
      </p:sp>
    </p:spTree>
    <p:extLst>
      <p:ext uri="{BB962C8B-B14F-4D97-AF65-F5344CB8AC3E}">
        <p14:creationId xmlns:p14="http://schemas.microsoft.com/office/powerpoint/2010/main" val="803803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2026-10-25T04:25:34.6870000Z</dcterms:created>
  <dcterms:modified xsi:type="dcterms:W3CDTF">2026-10-25T04:25:34.6870000Z</dcterms:modified>
</coreProperties>
</file>